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7F4991-596A-462E-9796-BDF35EAD8E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F51FBD-E504-4B90-885D-5BD5578253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2F8953-27B5-42CB-9A8B-5AEA0450F1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525CF1-806D-4760-945B-44DC4227B52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77D24E-E9CE-4BED-BBEA-12AEE87991B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E918EC-AF66-4D1D-A18C-AAF119FBE9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088C50-6E32-4D02-B947-13A9794C6F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799487-A5FA-4D72-A699-227324EF71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4DC862-72CA-4FD1-8B1A-E62D3AE7FB3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967CF9-B30E-4680-BC34-C804B62BD3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FDE68D-7950-4715-8160-CE608C82B50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811CA6-31A3-47A8-BFC6-12020C9EF07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98B262F-8D26-4175-A081-565F50C678A6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612000" y="522000"/>
            <a:ext cx="918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1V1 PROJECT UPDATE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612000" y="918000"/>
            <a:ext cx="10260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RFD3 Mosaic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612000" y="1584000"/>
            <a:ext cx="10080000" cy="46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Preserving cross-chain interface seeds in symmetric protein design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612000" y="2484000"/>
            <a:ext cx="10800000" cy="2052000"/>
          </a:xfrm>
          <a:prstGeom prst="rect">
            <a:avLst/>
          </a:prstGeom>
          <a:ln w="0">
            <a:noFill/>
          </a:ln>
        </p:spPr>
      </p:pic>
      <p:sp>
        <p:nvSpPr>
          <p:cNvPr id="47" name=""/>
          <p:cNvSpPr txBox="1"/>
          <p:nvPr/>
        </p:nvSpPr>
        <p:spPr>
          <a:xfrm>
            <a:off x="612000" y="5688000"/>
            <a:ext cx="432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Haixi Zhao · 24 July 2026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8064000" y="5688000"/>
            <a:ext cx="3348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RFD3 / Interface-Seed / C3 design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576000" y="6516000"/>
            <a:ext cx="900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RFD3 Mosaic · 1V1 update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0728000" y="6516000"/>
            <a:ext cx="68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 txBox="1"/>
          <p:nvPr/>
        </p:nvSpPr>
        <p:spPr>
          <a:xfrm>
            <a:off x="576000" y="234000"/>
            <a:ext cx="1098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WHERE THE PROJECT STANDS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576000" y="414000"/>
            <a:ext cx="10980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Executive summary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576000" y="900000"/>
            <a:ext cx="10944000" cy="0"/>
          </a:xfrm>
          <a:prstGeom prst="line">
            <a:avLst/>
          </a:prstGeom>
          <a:ln w="10080">
            <a:solidFill>
              <a:srgbClr val="d6dd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"/>
          <p:cNvSpPr/>
          <p:nvPr/>
        </p:nvSpPr>
        <p:spPr>
          <a:xfrm>
            <a:off x="612000" y="1224000"/>
            <a:ext cx="2592000" cy="1620000"/>
          </a:xfrm>
          <a:prstGeom prst="rect">
            <a:avLst/>
          </a:prstGeom>
          <a:solidFill>
            <a:srgbClr val="f3f5f2"/>
          </a:solidFill>
          <a:ln w="0">
            <a:noFill/>
          </a:ln>
        </p:spPr>
      </p:sp>
      <p:sp>
        <p:nvSpPr>
          <p:cNvPr id="55" name=""/>
          <p:cNvSpPr/>
          <p:nvPr/>
        </p:nvSpPr>
        <p:spPr>
          <a:xfrm>
            <a:off x="612000" y="1224000"/>
            <a:ext cx="61200" cy="1620000"/>
          </a:xfrm>
          <a:prstGeom prst="rect">
            <a:avLst/>
          </a:prstGeom>
          <a:solidFill>
            <a:srgbClr val="3c6c44"/>
          </a:solidFill>
          <a:ln w="0">
            <a:noFill/>
          </a:ln>
        </p:spPr>
      </p:sp>
      <p:sp>
        <p:nvSpPr>
          <p:cNvPr id="56" name=""/>
          <p:cNvSpPr txBox="1"/>
          <p:nvPr/>
        </p:nvSpPr>
        <p:spPr>
          <a:xfrm>
            <a:off x="799200" y="1378800"/>
            <a:ext cx="2286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151/151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799200" y="1710000"/>
            <a:ext cx="2286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Framework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799200" y="2034000"/>
            <a:ext cx="2286000" cy="188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Generator-independent schema, symmetry expansion, topology mapping and RFD3 adapter are implemented.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3348000" y="1224000"/>
            <a:ext cx="2592000" cy="1620000"/>
          </a:xfrm>
          <a:prstGeom prst="rect">
            <a:avLst/>
          </a:prstGeom>
          <a:solidFill>
            <a:srgbClr val="f3f5f2"/>
          </a:solidFill>
          <a:ln w="0">
            <a:noFill/>
          </a:ln>
        </p:spPr>
      </p:sp>
      <p:sp>
        <p:nvSpPr>
          <p:cNvPr id="60" name=""/>
          <p:cNvSpPr/>
          <p:nvPr/>
        </p:nvSpPr>
        <p:spPr>
          <a:xfrm>
            <a:off x="3348000" y="1224000"/>
            <a:ext cx="61200" cy="1620000"/>
          </a:xfrm>
          <a:prstGeom prst="rect">
            <a:avLst/>
          </a:prstGeom>
          <a:solidFill>
            <a:srgbClr val="c54888"/>
          </a:solidFill>
          <a:ln w="0">
            <a:noFill/>
          </a:ln>
        </p:spPr>
      </p:sp>
      <p:sp>
        <p:nvSpPr>
          <p:cNvPr id="61" name=""/>
          <p:cNvSpPr txBox="1"/>
          <p:nvPr/>
        </p:nvSpPr>
        <p:spPr>
          <a:xfrm>
            <a:off x="3535200" y="1378800"/>
            <a:ext cx="2286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3 / 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3535200" y="1710000"/>
            <a:ext cx="2286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Critical fix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3535200" y="2034000"/>
            <a:ext cx="2286000" cy="137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Native symmetry no longer breaks the two-fragment cross-chain interface at finalization.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6084000" y="1224000"/>
            <a:ext cx="2592000" cy="1620000"/>
          </a:xfrm>
          <a:prstGeom prst="rect">
            <a:avLst/>
          </a:prstGeom>
          <a:solidFill>
            <a:srgbClr val="f3f5f2"/>
          </a:solidFill>
          <a:ln w="0">
            <a:noFill/>
          </a:ln>
        </p:spPr>
      </p:sp>
      <p:sp>
        <p:nvSpPr>
          <p:cNvPr id="65" name=""/>
          <p:cNvSpPr/>
          <p:nvPr/>
        </p:nvSpPr>
        <p:spPr>
          <a:xfrm>
            <a:off x="6084000" y="1224000"/>
            <a:ext cx="61200" cy="1620000"/>
          </a:xfrm>
          <a:prstGeom prst="rect">
            <a:avLst/>
          </a:prstGeom>
          <a:solidFill>
            <a:srgbClr val="2d8c99"/>
          </a:solidFill>
          <a:ln w="0">
            <a:noFill/>
          </a:ln>
        </p:spPr>
      </p:sp>
      <p:sp>
        <p:nvSpPr>
          <p:cNvPr id="66" name=""/>
          <p:cNvSpPr txBox="1"/>
          <p:nvPr/>
        </p:nvSpPr>
        <p:spPr>
          <a:xfrm>
            <a:off x="6271200" y="1378800"/>
            <a:ext cx="2286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0.05 Å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6271200" y="1710000"/>
            <a:ext cx="2286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Positive GPU evidence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6271200" y="2034000"/>
            <a:ext cx="2286000" cy="137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Job 5712555 preserved all heavy atoms and ~98% of reference interface contacts.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8820000" y="1224000"/>
            <a:ext cx="2592000" cy="1620000"/>
          </a:xfrm>
          <a:prstGeom prst="rect">
            <a:avLst/>
          </a:prstGeom>
          <a:solidFill>
            <a:srgbClr val="f3f5f2"/>
          </a:solidFill>
          <a:ln w="0">
            <a:noFill/>
          </a:ln>
        </p:spPr>
      </p:sp>
      <p:sp>
        <p:nvSpPr>
          <p:cNvPr id="70" name=""/>
          <p:cNvSpPr/>
          <p:nvPr/>
        </p:nvSpPr>
        <p:spPr>
          <a:xfrm>
            <a:off x="8820000" y="1224000"/>
            <a:ext cx="61200" cy="1620000"/>
          </a:xfrm>
          <a:prstGeom prst="rect">
            <a:avLst/>
          </a:prstGeom>
          <a:solidFill>
            <a:srgbClr val="d94b55"/>
          </a:solidFill>
          <a:ln w="0">
            <a:noFill/>
          </a:ln>
        </p:spPr>
      </p:sp>
      <p:sp>
        <p:nvSpPr>
          <p:cNvPr id="71" name=""/>
          <p:cNvSpPr txBox="1"/>
          <p:nvPr/>
        </p:nvSpPr>
        <p:spPr>
          <a:xfrm>
            <a:off x="9007200" y="1378800"/>
            <a:ext cx="2286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6 poses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9007200" y="1710000"/>
            <a:ext cx="2286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Current experiment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9007200" y="2034000"/>
            <a:ext cx="2286000" cy="111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Six diverse 200-step pose jobs submitted with identical diffusion seed.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612000" y="3240000"/>
            <a:ext cx="10800000" cy="1872000"/>
          </a:xfrm>
          <a:prstGeom prst="rect">
            <a:avLst/>
          </a:prstGeom>
          <a:solidFill>
            <a:srgbClr val="e8f0e5"/>
          </a:solidFill>
          <a:ln w="0">
            <a:noFill/>
          </a:ln>
        </p:spPr>
      </p:sp>
      <p:sp>
        <p:nvSpPr>
          <p:cNvPr id="75" name=""/>
          <p:cNvSpPr txBox="1"/>
          <p:nvPr/>
        </p:nvSpPr>
        <p:spPr>
          <a:xfrm>
            <a:off x="828000" y="3474000"/>
            <a:ext cx="1008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Main conclusion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28000" y="3852000"/>
            <a:ext cx="990000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The interface-preservation failure is fixed for the validated C3 smoke case. The next decision is no longer “can the seed be held?” but “which input poses produce the best full-length, designable C3 scaffold?”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576000" y="6516000"/>
            <a:ext cx="900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RFD3 Mosaic · 1V1 update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0728000" y="6516000"/>
            <a:ext cx="68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 txBox="1"/>
          <p:nvPr/>
        </p:nvSpPr>
        <p:spPr>
          <a:xfrm>
            <a:off x="576000" y="234000"/>
            <a:ext cx="1098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PROBLEM FRAMING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576000" y="414000"/>
            <a:ext cx="10980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Why this project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576000" y="900000"/>
            <a:ext cx="10944000" cy="0"/>
          </a:xfrm>
          <a:prstGeom prst="line">
            <a:avLst/>
          </a:prstGeom>
          <a:ln w="10080">
            <a:solidFill>
              <a:srgbClr val="d6dd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630000" y="1224000"/>
            <a:ext cx="10800000" cy="20160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 txBox="1"/>
          <p:nvPr/>
        </p:nvSpPr>
        <p:spPr>
          <a:xfrm>
            <a:off x="648000" y="3672000"/>
            <a:ext cx="342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Starting point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648000" y="3996000"/>
            <a:ext cx="3240000" cy="111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A known PPI interface should remain geometrically intact while new symmetric scaffold connections are generated.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4356000" y="3672000"/>
            <a:ext cx="342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Limitation of the old path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4356000" y="3996000"/>
            <a:ext cx="3240000" cy="137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Interface-Seed 1.0 was tied to an older RFdiffusion workflow and did not generalize cleanly to multi-chain / multi-interface RFD3 tasks.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8064000" y="3672000"/>
            <a:ext cx="32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Goal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8064000" y="3996000"/>
            <a:ext cx="3132000" cy="137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Build a reusable, auditable compiler that separates seed geometry, topology, symmetry and the generator backend.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576000" y="6516000"/>
            <a:ext cx="900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RFD3 Mosaic · 1V1 update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10728000" y="6516000"/>
            <a:ext cx="68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 txBox="1"/>
          <p:nvPr/>
        </p:nvSpPr>
        <p:spPr>
          <a:xfrm>
            <a:off x="576000" y="234000"/>
            <a:ext cx="1098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EARLY WORK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576000" y="414000"/>
            <a:ext cx="10980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Foundation built before GPU inference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576000" y="900000"/>
            <a:ext cx="10944000" cy="0"/>
          </a:xfrm>
          <a:prstGeom prst="line">
            <a:avLst/>
          </a:prstGeom>
          <a:ln w="10080">
            <a:solidFill>
              <a:srgbClr val="d6dd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"/>
          <p:cNvSpPr txBox="1"/>
          <p:nvPr/>
        </p:nvSpPr>
        <p:spPr>
          <a:xfrm>
            <a:off x="684000" y="1152000"/>
            <a:ext cx="50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296000" y="1152000"/>
            <a:ext cx="216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Schema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3744000" y="1152000"/>
            <a:ext cx="738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Fragments · rigid groups · ports · interfaces · scaffold links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918000" y="1440000"/>
            <a:ext cx="0" cy="576000"/>
          </a:xfrm>
          <a:prstGeom prst="line">
            <a:avLst/>
          </a:prstGeom>
          <a:ln w="12600">
            <a:solidFill>
              <a:srgbClr val="d6dd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"/>
          <p:cNvSpPr txBox="1"/>
          <p:nvPr/>
        </p:nvSpPr>
        <p:spPr>
          <a:xfrm>
            <a:off x="684000" y="2124000"/>
            <a:ext cx="50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1296000" y="2124000"/>
            <a:ext cx="216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Geometry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3744000" y="2124000"/>
            <a:ext cx="738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SE(3) transforms · Cn/Dn registries · symmetry expansion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918000" y="2412000"/>
            <a:ext cx="0" cy="576000"/>
          </a:xfrm>
          <a:prstGeom prst="line">
            <a:avLst/>
          </a:prstGeom>
          <a:ln w="12600">
            <a:solidFill>
              <a:srgbClr val="d6dd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"/>
          <p:cNvSpPr txBox="1"/>
          <p:nvPr/>
        </p:nvSpPr>
        <p:spPr>
          <a:xfrm>
            <a:off x="684000" y="3096000"/>
            <a:ext cx="50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1296000" y="3096000"/>
            <a:ext cx="216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Topology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3744000" y="3096000"/>
            <a:ext cx="738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Cross-copy protomer links · chain/contig mapping · provenance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918000" y="3384000"/>
            <a:ext cx="0" cy="576000"/>
          </a:xfrm>
          <a:prstGeom prst="line">
            <a:avLst/>
          </a:prstGeom>
          <a:ln w="12600">
            <a:solidFill>
              <a:srgbClr val="d6dd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"/>
          <p:cNvSpPr txBox="1"/>
          <p:nvPr/>
        </p:nvSpPr>
        <p:spPr>
          <a:xfrm>
            <a:off x="684000" y="4068000"/>
            <a:ext cx="50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04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1296000" y="4068000"/>
            <a:ext cx="216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RFD3 adapter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3744000" y="4068000"/>
            <a:ext cx="738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Pre-symmetrized CIF · fixed atoms/sequence · prevalidation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918000" y="4356000"/>
            <a:ext cx="0" cy="576000"/>
          </a:xfrm>
          <a:prstGeom prst="line">
            <a:avLst/>
          </a:prstGeom>
          <a:ln w="12600">
            <a:solidFill>
              <a:srgbClr val="d6dd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"/>
          <p:cNvSpPr txBox="1"/>
          <p:nvPr/>
        </p:nvSpPr>
        <p:spPr>
          <a:xfrm>
            <a:off x="684000" y="5040000"/>
            <a:ext cx="50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05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1296000" y="5040000"/>
            <a:ext cx="216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CPU search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3744000" y="5040000"/>
            <a:ext cx="738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Pose ensemble · hard gates · scoring · diversity selection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576000" y="6516000"/>
            <a:ext cx="900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RFD3 Mosaic · 1V1 update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10728000" y="6516000"/>
            <a:ext cx="68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4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 txBox="1"/>
          <p:nvPr/>
        </p:nvSpPr>
        <p:spPr>
          <a:xfrm>
            <a:off x="576000" y="234000"/>
            <a:ext cx="1098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C3 INTERFACE-SEED DESIGN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576000" y="414000"/>
            <a:ext cx="10980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The topology that must be preserved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576000" y="900000"/>
            <a:ext cx="10944000" cy="0"/>
          </a:xfrm>
          <a:prstGeom prst="line">
            <a:avLst/>
          </a:prstGeom>
          <a:ln w="10080">
            <a:solidFill>
              <a:srgbClr val="d6dd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>
            <a:off x="5670000" y="1278000"/>
            <a:ext cx="1260000" cy="684000"/>
          </a:xfrm>
          <a:prstGeom prst="rect">
            <a:avLst/>
          </a:prstGeom>
          <a:solidFill>
            <a:srgbClr val="e8f0e5"/>
          </a:solidFill>
          <a:ln w="12600">
            <a:solidFill>
              <a:srgbClr val="3c6c44"/>
            </a:solidFill>
            <a:round/>
          </a:ln>
        </p:spPr>
      </p:sp>
      <p:sp>
        <p:nvSpPr>
          <p:cNvPr id="119" name=""/>
          <p:cNvSpPr txBox="1"/>
          <p:nvPr/>
        </p:nvSpPr>
        <p:spPr>
          <a:xfrm>
            <a:off x="5760000" y="1386000"/>
            <a:ext cx="108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Protomer 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5760000" y="1620000"/>
            <a:ext cx="108000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right0 → linker → left1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6300000" y="1620000"/>
            <a:ext cx="1465200" cy="2538000"/>
          </a:xfrm>
          <a:prstGeom prst="line">
            <a:avLst/>
          </a:prstGeom>
          <a:ln w="16200">
            <a:solidFill>
              <a:srgbClr val="9ea79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"/>
          <p:cNvSpPr/>
          <p:nvPr/>
        </p:nvSpPr>
        <p:spPr>
          <a:xfrm>
            <a:off x="7135200" y="3816000"/>
            <a:ext cx="1260000" cy="684000"/>
          </a:xfrm>
          <a:prstGeom prst="rect">
            <a:avLst/>
          </a:prstGeom>
          <a:solidFill>
            <a:srgbClr val="e8f0e5"/>
          </a:solidFill>
          <a:ln w="12600">
            <a:solidFill>
              <a:srgbClr val="3c6c44"/>
            </a:solidFill>
            <a:round/>
          </a:ln>
        </p:spPr>
      </p:sp>
      <p:sp>
        <p:nvSpPr>
          <p:cNvPr id="123" name=""/>
          <p:cNvSpPr txBox="1"/>
          <p:nvPr/>
        </p:nvSpPr>
        <p:spPr>
          <a:xfrm>
            <a:off x="7225200" y="3924000"/>
            <a:ext cx="108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Protomer 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7225200" y="4158000"/>
            <a:ext cx="108000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right1 → linker → left2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 flipH="1">
            <a:off x="4834440" y="4158000"/>
            <a:ext cx="2930760" cy="0"/>
          </a:xfrm>
          <a:prstGeom prst="line">
            <a:avLst/>
          </a:prstGeom>
          <a:ln w="16200">
            <a:solidFill>
              <a:srgbClr val="9ea79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"/>
          <p:cNvSpPr/>
          <p:nvPr/>
        </p:nvSpPr>
        <p:spPr>
          <a:xfrm>
            <a:off x="4204440" y="3816000"/>
            <a:ext cx="1260000" cy="684000"/>
          </a:xfrm>
          <a:prstGeom prst="rect">
            <a:avLst/>
          </a:prstGeom>
          <a:solidFill>
            <a:srgbClr val="e8f0e5"/>
          </a:solidFill>
          <a:ln w="12600">
            <a:solidFill>
              <a:srgbClr val="3c6c44"/>
            </a:solidFill>
            <a:round/>
          </a:ln>
        </p:spPr>
      </p:sp>
      <p:sp>
        <p:nvSpPr>
          <p:cNvPr id="127" name=""/>
          <p:cNvSpPr txBox="1"/>
          <p:nvPr/>
        </p:nvSpPr>
        <p:spPr>
          <a:xfrm>
            <a:off x="4294440" y="3924000"/>
            <a:ext cx="108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Protomer 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4294440" y="4158000"/>
            <a:ext cx="108000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right2 → linker → left0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 flipV="1">
            <a:off x="4834440" y="1620000"/>
            <a:ext cx="1465560" cy="2538000"/>
          </a:xfrm>
          <a:prstGeom prst="line">
            <a:avLst/>
          </a:prstGeom>
          <a:ln w="16200">
            <a:solidFill>
              <a:srgbClr val="9ea79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"/>
          <p:cNvSpPr txBox="1"/>
          <p:nvPr/>
        </p:nvSpPr>
        <p:spPr>
          <a:xfrm>
            <a:off x="540000" y="1260000"/>
            <a:ext cx="32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Fixed non-covalent interfaces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540000" y="1620000"/>
            <a:ext cx="331200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left(0):right(0)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left(1):right(1)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left(2):right(2)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540000" y="2700000"/>
            <a:ext cx="32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Generated covalent paths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540000" y="3060000"/>
            <a:ext cx="331200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right(0)→left(1)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right(1)→left(2)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right(2)→left(0)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8100000" y="4752000"/>
            <a:ext cx="3024000" cy="792000"/>
          </a:xfrm>
          <a:prstGeom prst="rect">
            <a:avLst/>
          </a:prstGeom>
          <a:solidFill>
            <a:srgbClr val="f7e7ef"/>
          </a:solidFill>
          <a:ln w="0">
            <a:noFill/>
          </a:ln>
        </p:spPr>
      </p:sp>
      <p:sp>
        <p:nvSpPr>
          <p:cNvPr id="135" name=""/>
          <p:cNvSpPr txBox="1"/>
          <p:nvPr/>
        </p:nvSpPr>
        <p:spPr>
          <a:xfrm>
            <a:off x="8316000" y="4932000"/>
            <a:ext cx="2592000" cy="111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The interface pair and the scaffold-link pair are intentionally different.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576000" y="6516000"/>
            <a:ext cx="900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RFD3 Mosaic · 1V1 update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10728000" y="6516000"/>
            <a:ext cx="68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5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 txBox="1"/>
          <p:nvPr/>
        </p:nvSpPr>
        <p:spPr>
          <a:xfrm>
            <a:off x="576000" y="234000"/>
            <a:ext cx="1098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MAIN DEBUGGING RESULT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576000" y="414000"/>
            <a:ext cx="10980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Critical technical issue: finalization order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576000" y="900000"/>
            <a:ext cx="10944000" cy="0"/>
          </a:xfrm>
          <a:prstGeom prst="line">
            <a:avLst/>
          </a:prstGeom>
          <a:ln w="10080">
            <a:solidFill>
              <a:srgbClr val="d6dd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"/>
          <p:cNvSpPr txBox="1"/>
          <p:nvPr/>
        </p:nvSpPr>
        <p:spPr>
          <a:xfrm>
            <a:off x="648000" y="1206000"/>
            <a:ext cx="468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Previous order — failed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684000" y="1692000"/>
            <a:ext cx="1260000" cy="576000"/>
          </a:xfrm>
          <a:prstGeom prst="rect">
            <a:avLst/>
          </a:prstGeom>
          <a:solidFill>
            <a:srgbClr val="e8f0e5"/>
          </a:solidFill>
          <a:ln w="12600">
            <a:solidFill>
              <a:srgbClr val="3c6c44"/>
            </a:solidFill>
            <a:round/>
          </a:ln>
        </p:spPr>
      </p:sp>
      <p:sp>
        <p:nvSpPr>
          <p:cNvPr id="143" name=""/>
          <p:cNvSpPr txBox="1"/>
          <p:nvPr/>
        </p:nvSpPr>
        <p:spPr>
          <a:xfrm>
            <a:off x="756000" y="1818000"/>
            <a:ext cx="1116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1944000" y="1980000"/>
            <a:ext cx="252000" cy="0"/>
          </a:xfrm>
          <a:prstGeom prst="line">
            <a:avLst/>
          </a:prstGeom>
          <a:ln w="19800">
            <a:solidFill>
              <a:srgbClr val="d94b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"/>
          <p:cNvSpPr/>
          <p:nvPr/>
        </p:nvSpPr>
        <p:spPr>
          <a:xfrm>
            <a:off x="2232000" y="1692000"/>
            <a:ext cx="1260000" cy="576000"/>
          </a:xfrm>
          <a:prstGeom prst="rect">
            <a:avLst/>
          </a:prstGeom>
          <a:solidFill>
            <a:srgbClr val="f7e7ef"/>
          </a:solidFill>
          <a:ln w="12600">
            <a:solidFill>
              <a:srgbClr val="c54888"/>
            </a:solidFill>
            <a:round/>
          </a:ln>
        </p:spPr>
      </p:sp>
      <p:sp>
        <p:nvSpPr>
          <p:cNvPr id="146" name=""/>
          <p:cNvSpPr txBox="1"/>
          <p:nvPr/>
        </p:nvSpPr>
        <p:spPr>
          <a:xfrm>
            <a:off x="2304000" y="1818000"/>
            <a:ext cx="1116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3492000" y="1980000"/>
            <a:ext cx="252000" cy="0"/>
          </a:xfrm>
          <a:prstGeom prst="line">
            <a:avLst/>
          </a:prstGeom>
          <a:ln w="19800">
            <a:solidFill>
              <a:srgbClr val="d94b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"/>
          <p:cNvSpPr/>
          <p:nvPr/>
        </p:nvSpPr>
        <p:spPr>
          <a:xfrm>
            <a:off x="3780000" y="1692000"/>
            <a:ext cx="1260000" cy="576000"/>
          </a:xfrm>
          <a:prstGeom prst="rect">
            <a:avLst/>
          </a:prstGeom>
          <a:solidFill>
            <a:srgbClr val="f3f5f2"/>
          </a:solidFill>
          <a:ln w="12600">
            <a:solidFill>
              <a:srgbClr val="4c5967"/>
            </a:solidFill>
            <a:round/>
          </a:ln>
        </p:spPr>
      </p:sp>
      <p:sp>
        <p:nvSpPr>
          <p:cNvPr id="149" name=""/>
          <p:cNvSpPr txBox="1"/>
          <p:nvPr/>
        </p:nvSpPr>
        <p:spPr>
          <a:xfrm>
            <a:off x="3852000" y="1818000"/>
            <a:ext cx="1116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684000" y="2304000"/>
            <a:ext cx="432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Reinsert motif  →  Symmetry projection  →  Global alignment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684000" y="2574000"/>
            <a:ext cx="4320000" cy="111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Symmetry moved fragments on different protomers independently. Each fragment survived, but the cross-chain interface was destroyed.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6336000" y="1206000"/>
            <a:ext cx="50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Corrected order — validated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6372000" y="1692000"/>
            <a:ext cx="1332000" cy="576000"/>
          </a:xfrm>
          <a:prstGeom prst="rect">
            <a:avLst/>
          </a:prstGeom>
          <a:solidFill>
            <a:srgbClr val="f7e7ef"/>
          </a:solidFill>
          <a:ln w="12600">
            <a:solidFill>
              <a:srgbClr val="c54888"/>
            </a:solidFill>
            <a:round/>
          </a:ln>
        </p:spPr>
      </p:sp>
      <p:sp>
        <p:nvSpPr>
          <p:cNvPr id="154" name=""/>
          <p:cNvSpPr txBox="1"/>
          <p:nvPr/>
        </p:nvSpPr>
        <p:spPr>
          <a:xfrm>
            <a:off x="6426000" y="1818000"/>
            <a:ext cx="122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7704000" y="1980000"/>
            <a:ext cx="252000" cy="0"/>
          </a:xfrm>
          <a:prstGeom prst="line">
            <a:avLst/>
          </a:prstGeom>
          <a:ln w="19800">
            <a:solidFill>
              <a:srgbClr val="3c6c4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"/>
          <p:cNvSpPr/>
          <p:nvPr/>
        </p:nvSpPr>
        <p:spPr>
          <a:xfrm>
            <a:off x="7992000" y="1692000"/>
            <a:ext cx="1332000" cy="576000"/>
          </a:xfrm>
          <a:prstGeom prst="rect">
            <a:avLst/>
          </a:prstGeom>
          <a:solidFill>
            <a:srgbClr val="e8f0e5"/>
          </a:solidFill>
          <a:ln w="12600">
            <a:solidFill>
              <a:srgbClr val="3c6c44"/>
            </a:solidFill>
            <a:round/>
          </a:ln>
        </p:spPr>
      </p:sp>
      <p:sp>
        <p:nvSpPr>
          <p:cNvPr id="157" name=""/>
          <p:cNvSpPr txBox="1"/>
          <p:nvPr/>
        </p:nvSpPr>
        <p:spPr>
          <a:xfrm>
            <a:off x="8046000" y="1818000"/>
            <a:ext cx="122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9324000" y="1980000"/>
            <a:ext cx="252000" cy="0"/>
          </a:xfrm>
          <a:prstGeom prst="line">
            <a:avLst/>
          </a:prstGeom>
          <a:ln w="19800">
            <a:solidFill>
              <a:srgbClr val="3c6c4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"/>
          <p:cNvSpPr/>
          <p:nvPr/>
        </p:nvSpPr>
        <p:spPr>
          <a:xfrm>
            <a:off x="9612000" y="1692000"/>
            <a:ext cx="1332000" cy="576000"/>
          </a:xfrm>
          <a:prstGeom prst="rect">
            <a:avLst/>
          </a:prstGeom>
          <a:solidFill>
            <a:srgbClr val="e4f2f3"/>
          </a:solidFill>
          <a:ln w="12600">
            <a:solidFill>
              <a:srgbClr val="2d8c99"/>
            </a:solidFill>
            <a:round/>
          </a:ln>
        </p:spPr>
      </p:sp>
      <p:sp>
        <p:nvSpPr>
          <p:cNvPr id="160" name=""/>
          <p:cNvSpPr txBox="1"/>
          <p:nvPr/>
        </p:nvSpPr>
        <p:spPr>
          <a:xfrm>
            <a:off x="9666000" y="1818000"/>
            <a:ext cx="122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6372000" y="2304000"/>
            <a:ext cx="486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Symmetry projection  →  Reinsert complete motif  →  Global alignment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6372000" y="2574000"/>
            <a:ext cx="486000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The generated scaffold is symmetrized first. The complete fixed interface gets final coordinate-write precedence.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684000" y="3744000"/>
            <a:ext cx="3312000" cy="1404000"/>
          </a:xfrm>
          <a:prstGeom prst="rect">
            <a:avLst/>
          </a:prstGeom>
          <a:solidFill>
            <a:srgbClr val="f3f5f2"/>
          </a:solidFill>
          <a:ln w="0">
            <a:noFill/>
          </a:ln>
        </p:spPr>
      </p:sp>
      <p:sp>
        <p:nvSpPr>
          <p:cNvPr id="164" name=""/>
          <p:cNvSpPr/>
          <p:nvPr/>
        </p:nvSpPr>
        <p:spPr>
          <a:xfrm>
            <a:off x="684000" y="3744000"/>
            <a:ext cx="61200" cy="1404000"/>
          </a:xfrm>
          <a:prstGeom prst="rect">
            <a:avLst/>
          </a:prstGeom>
          <a:solidFill>
            <a:srgbClr val="2d8c99"/>
          </a:solidFill>
          <a:ln w="0">
            <a:noFill/>
          </a:ln>
        </p:spPr>
      </p:sp>
      <p:sp>
        <p:nvSpPr>
          <p:cNvPr id="165" name=""/>
          <p:cNvSpPr txBox="1"/>
          <p:nvPr/>
        </p:nvSpPr>
        <p:spPr>
          <a:xfrm>
            <a:off x="871200" y="3895200"/>
            <a:ext cx="3006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P100 compatibility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871200" y="4194000"/>
            <a:ext cx="3006000" cy="88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Kabsch/SVD runs in float32 outside bfloat16 autocast.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4374000" y="3744000"/>
            <a:ext cx="3312000" cy="1404000"/>
          </a:xfrm>
          <a:prstGeom prst="rect">
            <a:avLst/>
          </a:prstGeom>
          <a:solidFill>
            <a:srgbClr val="f3f5f2"/>
          </a:solidFill>
          <a:ln w="0">
            <a:noFill/>
          </a:ln>
        </p:spPr>
      </p:sp>
      <p:sp>
        <p:nvSpPr>
          <p:cNvPr id="168" name=""/>
          <p:cNvSpPr/>
          <p:nvPr/>
        </p:nvSpPr>
        <p:spPr>
          <a:xfrm>
            <a:off x="4374000" y="3744000"/>
            <a:ext cx="61200" cy="1404000"/>
          </a:xfrm>
          <a:prstGeom prst="rect">
            <a:avLst/>
          </a:prstGeom>
          <a:solidFill>
            <a:srgbClr val="c54888"/>
          </a:solidFill>
          <a:ln w="0">
            <a:noFill/>
          </a:ln>
        </p:spPr>
      </p:sp>
      <p:sp>
        <p:nvSpPr>
          <p:cNvPr id="169" name=""/>
          <p:cNvSpPr txBox="1"/>
          <p:nvPr/>
        </p:nvSpPr>
        <p:spPr>
          <a:xfrm>
            <a:off x="4561200" y="3895200"/>
            <a:ext cx="3006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Regression coverage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4561200" y="4194000"/>
            <a:ext cx="3006000" cy="111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Mock symmetry separates the fragments; finalization must restore the original interface.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8064000" y="3744000"/>
            <a:ext cx="3312000" cy="1404000"/>
          </a:xfrm>
          <a:prstGeom prst="rect">
            <a:avLst/>
          </a:prstGeom>
          <a:solidFill>
            <a:srgbClr val="f3f5f2"/>
          </a:solidFill>
          <a:ln w="0">
            <a:noFill/>
          </a:ln>
        </p:spPr>
      </p:sp>
      <p:sp>
        <p:nvSpPr>
          <p:cNvPr id="172" name=""/>
          <p:cNvSpPr/>
          <p:nvPr/>
        </p:nvSpPr>
        <p:spPr>
          <a:xfrm>
            <a:off x="8064000" y="3744000"/>
            <a:ext cx="61200" cy="1404000"/>
          </a:xfrm>
          <a:prstGeom prst="rect">
            <a:avLst/>
          </a:prstGeom>
          <a:solidFill>
            <a:srgbClr val="3c6c44"/>
          </a:solidFill>
          <a:ln w="0">
            <a:noFill/>
          </a:ln>
        </p:spPr>
      </p:sp>
      <p:sp>
        <p:nvSpPr>
          <p:cNvPr id="173" name=""/>
          <p:cNvSpPr txBox="1"/>
          <p:nvPr/>
        </p:nvSpPr>
        <p:spPr>
          <a:xfrm>
            <a:off x="8251200" y="3895200"/>
            <a:ext cx="3006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Server verification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8251200" y="4194000"/>
            <a:ext cx="3006000" cy="88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151 unit tests passed before the corrected GPU smoke.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576000" y="6516000"/>
            <a:ext cx="900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RFD3 Mosaic · 1V1 update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10728000" y="6516000"/>
            <a:ext cx="68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6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 txBox="1"/>
          <p:nvPr/>
        </p:nvSpPr>
        <p:spPr>
          <a:xfrm>
            <a:off x="576000" y="234000"/>
            <a:ext cx="1098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GPU VALIDATION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576000" y="414000"/>
            <a:ext cx="10980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Decisive evidence: failure → preservation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576000" y="900000"/>
            <a:ext cx="10944000" cy="0"/>
          </a:xfrm>
          <a:prstGeom prst="line">
            <a:avLst/>
          </a:prstGeom>
          <a:ln w="10080">
            <a:solidFill>
              <a:srgbClr val="d6dd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"/>
          <p:cNvSpPr txBox="1"/>
          <p:nvPr/>
        </p:nvSpPr>
        <p:spPr>
          <a:xfrm>
            <a:off x="684000" y="1224000"/>
            <a:ext cx="450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Before the fix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684000" y="1620000"/>
            <a:ext cx="2160000" cy="1224000"/>
          </a:xfrm>
          <a:prstGeom prst="rect">
            <a:avLst/>
          </a:prstGeom>
          <a:solidFill>
            <a:srgbClr val="f3f5f2"/>
          </a:solidFill>
          <a:ln w="0">
            <a:noFill/>
          </a:ln>
        </p:spPr>
      </p:sp>
      <p:sp>
        <p:nvSpPr>
          <p:cNvPr id="182" name=""/>
          <p:cNvSpPr/>
          <p:nvPr/>
        </p:nvSpPr>
        <p:spPr>
          <a:xfrm>
            <a:off x="684000" y="1620000"/>
            <a:ext cx="61200" cy="1224000"/>
          </a:xfrm>
          <a:prstGeom prst="rect">
            <a:avLst/>
          </a:prstGeom>
          <a:solidFill>
            <a:srgbClr val="d94b55"/>
          </a:solidFill>
          <a:ln w="0">
            <a:noFill/>
          </a:ln>
        </p:spPr>
      </p:sp>
      <p:sp>
        <p:nvSpPr>
          <p:cNvPr id="183" name=""/>
          <p:cNvSpPr txBox="1"/>
          <p:nvPr/>
        </p:nvSpPr>
        <p:spPr>
          <a:xfrm>
            <a:off x="871200" y="1774800"/>
            <a:ext cx="185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~12.1 Å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871200" y="2106000"/>
            <a:ext cx="1854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Combined CA RMSD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2988000" y="1620000"/>
            <a:ext cx="2160000" cy="1224000"/>
          </a:xfrm>
          <a:prstGeom prst="rect">
            <a:avLst/>
          </a:prstGeom>
          <a:solidFill>
            <a:srgbClr val="f3f5f2"/>
          </a:solidFill>
          <a:ln w="0">
            <a:noFill/>
          </a:ln>
        </p:spPr>
      </p:sp>
      <p:sp>
        <p:nvSpPr>
          <p:cNvPr id="186" name=""/>
          <p:cNvSpPr/>
          <p:nvPr/>
        </p:nvSpPr>
        <p:spPr>
          <a:xfrm>
            <a:off x="2988000" y="1620000"/>
            <a:ext cx="61200" cy="1224000"/>
          </a:xfrm>
          <a:prstGeom prst="rect">
            <a:avLst/>
          </a:prstGeom>
          <a:solidFill>
            <a:srgbClr val="d94b55"/>
          </a:solidFill>
          <a:ln w="0">
            <a:noFill/>
          </a:ln>
        </p:spPr>
      </p:sp>
      <p:sp>
        <p:nvSpPr>
          <p:cNvPr id="187" name=""/>
          <p:cNvSpPr txBox="1"/>
          <p:nvPr/>
        </p:nvSpPr>
        <p:spPr>
          <a:xfrm>
            <a:off x="3175200" y="1774800"/>
            <a:ext cx="185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0%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3175200" y="2106000"/>
            <a:ext cx="1854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Contact retention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6372000" y="1224000"/>
            <a:ext cx="50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After the fix · job 5712555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6372000" y="1620000"/>
            <a:ext cx="1548000" cy="1224000"/>
          </a:xfrm>
          <a:prstGeom prst="rect">
            <a:avLst/>
          </a:prstGeom>
          <a:solidFill>
            <a:srgbClr val="f3f5f2"/>
          </a:solidFill>
          <a:ln w="0">
            <a:noFill/>
          </a:ln>
        </p:spPr>
      </p:sp>
      <p:sp>
        <p:nvSpPr>
          <p:cNvPr id="191" name=""/>
          <p:cNvSpPr/>
          <p:nvPr/>
        </p:nvSpPr>
        <p:spPr>
          <a:xfrm>
            <a:off x="6372000" y="1620000"/>
            <a:ext cx="61200" cy="1224000"/>
          </a:xfrm>
          <a:prstGeom prst="rect">
            <a:avLst/>
          </a:prstGeom>
          <a:solidFill>
            <a:srgbClr val="3c6c44"/>
          </a:solidFill>
          <a:ln w="0">
            <a:noFill/>
          </a:ln>
        </p:spPr>
      </p:sp>
      <p:sp>
        <p:nvSpPr>
          <p:cNvPr id="192" name=""/>
          <p:cNvSpPr txBox="1"/>
          <p:nvPr/>
        </p:nvSpPr>
        <p:spPr>
          <a:xfrm>
            <a:off x="6559200" y="1774800"/>
            <a:ext cx="1242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3 / 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6559200" y="2106000"/>
            <a:ext cx="1242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Pairs passed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8028000" y="1620000"/>
            <a:ext cx="1548000" cy="1224000"/>
          </a:xfrm>
          <a:prstGeom prst="rect">
            <a:avLst/>
          </a:prstGeom>
          <a:solidFill>
            <a:srgbClr val="f3f5f2"/>
          </a:solidFill>
          <a:ln w="0">
            <a:noFill/>
          </a:ln>
        </p:spPr>
      </p:sp>
      <p:sp>
        <p:nvSpPr>
          <p:cNvPr id="195" name=""/>
          <p:cNvSpPr/>
          <p:nvPr/>
        </p:nvSpPr>
        <p:spPr>
          <a:xfrm>
            <a:off x="8028000" y="1620000"/>
            <a:ext cx="61200" cy="1224000"/>
          </a:xfrm>
          <a:prstGeom prst="rect">
            <a:avLst/>
          </a:prstGeom>
          <a:solidFill>
            <a:srgbClr val="2d8c99"/>
          </a:solidFill>
          <a:ln w="0">
            <a:noFill/>
          </a:ln>
        </p:spPr>
      </p:sp>
      <p:sp>
        <p:nvSpPr>
          <p:cNvPr id="196" name=""/>
          <p:cNvSpPr txBox="1"/>
          <p:nvPr/>
        </p:nvSpPr>
        <p:spPr>
          <a:xfrm>
            <a:off x="8215200" y="1774800"/>
            <a:ext cx="1242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0.053 Å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8215200" y="2106000"/>
            <a:ext cx="1242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Max CA RMSD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9684000" y="1620000"/>
            <a:ext cx="1548000" cy="1224000"/>
          </a:xfrm>
          <a:prstGeom prst="rect">
            <a:avLst/>
          </a:prstGeom>
          <a:solidFill>
            <a:srgbClr val="f3f5f2"/>
          </a:solidFill>
          <a:ln w="0">
            <a:noFill/>
          </a:ln>
        </p:spPr>
      </p:sp>
      <p:sp>
        <p:nvSpPr>
          <p:cNvPr id="199" name=""/>
          <p:cNvSpPr/>
          <p:nvPr/>
        </p:nvSpPr>
        <p:spPr>
          <a:xfrm>
            <a:off x="9684000" y="1620000"/>
            <a:ext cx="61200" cy="1224000"/>
          </a:xfrm>
          <a:prstGeom prst="rect">
            <a:avLst/>
          </a:prstGeom>
          <a:solidFill>
            <a:srgbClr val="c54888"/>
          </a:solidFill>
          <a:ln w="0">
            <a:noFill/>
          </a:ln>
        </p:spPr>
      </p:sp>
      <p:sp>
        <p:nvSpPr>
          <p:cNvPr id="200" name=""/>
          <p:cNvSpPr txBox="1"/>
          <p:nvPr/>
        </p:nvSpPr>
        <p:spPr>
          <a:xfrm>
            <a:off x="9871200" y="1774800"/>
            <a:ext cx="1242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97.88%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9871200" y="2106000"/>
            <a:ext cx="124200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Min contact retention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684000" y="3348000"/>
            <a:ext cx="10548000" cy="1548000"/>
          </a:xfrm>
          <a:prstGeom prst="rect">
            <a:avLst/>
          </a:prstGeom>
          <a:solidFill>
            <a:srgbClr val="e8f0e5"/>
          </a:solidFill>
          <a:ln w="0">
            <a:noFill/>
          </a:ln>
        </p:spPr>
      </p:sp>
      <p:sp>
        <p:nvSpPr>
          <p:cNvPr id="203" name=""/>
          <p:cNvSpPr txBox="1"/>
          <p:nvPr/>
        </p:nvSpPr>
        <p:spPr>
          <a:xfrm>
            <a:off x="936000" y="3582000"/>
            <a:ext cx="990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Interpretation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936000" y="3924000"/>
            <a:ext cx="964800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The bug was not insufficient conditioning or the contig. It was the last coordinate operation. Changing finalization order converted a clear negative control into a near-identity positive result.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576000" y="6516000"/>
            <a:ext cx="900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RFD3 Mosaic · 1V1 update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10728000" y="6516000"/>
            <a:ext cx="68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7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"/>
          <p:cNvSpPr txBox="1"/>
          <p:nvPr/>
        </p:nvSpPr>
        <p:spPr>
          <a:xfrm>
            <a:off x="576000" y="234000"/>
            <a:ext cx="1098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CURRENT MAIN EXPERIMENT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576000" y="414000"/>
            <a:ext cx="10980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From one successful pose to a controlled search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576000" y="900000"/>
            <a:ext cx="10944000" cy="0"/>
          </a:xfrm>
          <a:prstGeom prst="line">
            <a:avLst/>
          </a:prstGeom>
          <a:ln w="10080">
            <a:solidFill>
              <a:srgbClr val="d6dd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"/>
          <p:cNvSpPr/>
          <p:nvPr/>
        </p:nvSpPr>
        <p:spPr>
          <a:xfrm>
            <a:off x="648000" y="1224000"/>
            <a:ext cx="2304000" cy="1296000"/>
          </a:xfrm>
          <a:prstGeom prst="rect">
            <a:avLst/>
          </a:prstGeom>
          <a:solidFill>
            <a:srgbClr val="f3f5f2"/>
          </a:solidFill>
          <a:ln w="0">
            <a:noFill/>
          </a:ln>
        </p:spPr>
      </p:sp>
      <p:sp>
        <p:nvSpPr>
          <p:cNvPr id="211" name=""/>
          <p:cNvSpPr/>
          <p:nvPr/>
        </p:nvSpPr>
        <p:spPr>
          <a:xfrm>
            <a:off x="648000" y="1224000"/>
            <a:ext cx="61200" cy="1296000"/>
          </a:xfrm>
          <a:prstGeom prst="rect">
            <a:avLst/>
          </a:prstGeom>
          <a:solidFill>
            <a:srgbClr val="3c6c44"/>
          </a:solidFill>
          <a:ln w="0">
            <a:noFill/>
          </a:ln>
        </p:spPr>
      </p:sp>
      <p:sp>
        <p:nvSpPr>
          <p:cNvPr id="212" name=""/>
          <p:cNvSpPr txBox="1"/>
          <p:nvPr/>
        </p:nvSpPr>
        <p:spPr>
          <a:xfrm>
            <a:off x="835200" y="1378800"/>
            <a:ext cx="1998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256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835200" y="1710000"/>
            <a:ext cx="1998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Joint sampling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835200" y="2034000"/>
            <a:ext cx="1998000" cy="111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Radius, axial offset and three Shoemake SO(3) variables.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3060000" y="1224000"/>
            <a:ext cx="2304000" cy="1296000"/>
          </a:xfrm>
          <a:prstGeom prst="rect">
            <a:avLst/>
          </a:prstGeom>
          <a:solidFill>
            <a:srgbClr val="f3f5f2"/>
          </a:solidFill>
          <a:ln w="0">
            <a:noFill/>
          </a:ln>
        </p:spPr>
      </p:sp>
      <p:sp>
        <p:nvSpPr>
          <p:cNvPr id="216" name=""/>
          <p:cNvSpPr/>
          <p:nvPr/>
        </p:nvSpPr>
        <p:spPr>
          <a:xfrm>
            <a:off x="3060000" y="1224000"/>
            <a:ext cx="61200" cy="1296000"/>
          </a:xfrm>
          <a:prstGeom prst="rect">
            <a:avLst/>
          </a:prstGeom>
          <a:solidFill>
            <a:srgbClr val="c54888"/>
          </a:solidFill>
          <a:ln w="0">
            <a:noFill/>
          </a:ln>
        </p:spPr>
      </p:sp>
      <p:sp>
        <p:nvSpPr>
          <p:cNvPr id="217" name=""/>
          <p:cNvSpPr txBox="1"/>
          <p:nvPr/>
        </p:nvSpPr>
        <p:spPr>
          <a:xfrm>
            <a:off x="3247200" y="1378800"/>
            <a:ext cx="1998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4 gates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3247200" y="1710000"/>
            <a:ext cx="1998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Hard gates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3247200" y="2034000"/>
            <a:ext cx="1998000" cy="162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No clashes · required interface · linker reachability · required objectives.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5472000" y="1224000"/>
            <a:ext cx="2304000" cy="1296000"/>
          </a:xfrm>
          <a:prstGeom prst="rect">
            <a:avLst/>
          </a:prstGeom>
          <a:solidFill>
            <a:srgbClr val="f3f5f2"/>
          </a:solidFill>
          <a:ln w="0">
            <a:noFill/>
          </a:ln>
        </p:spPr>
      </p:sp>
      <p:sp>
        <p:nvSpPr>
          <p:cNvPr id="221" name=""/>
          <p:cNvSpPr/>
          <p:nvPr/>
        </p:nvSpPr>
        <p:spPr>
          <a:xfrm>
            <a:off x="5472000" y="1224000"/>
            <a:ext cx="61200" cy="1296000"/>
          </a:xfrm>
          <a:prstGeom prst="rect">
            <a:avLst/>
          </a:prstGeom>
          <a:solidFill>
            <a:srgbClr val="2d8c99"/>
          </a:solidFill>
          <a:ln w="0">
            <a:noFill/>
          </a:ln>
        </p:spPr>
      </p:sp>
      <p:sp>
        <p:nvSpPr>
          <p:cNvPr id="222" name=""/>
          <p:cNvSpPr txBox="1"/>
          <p:nvPr/>
        </p:nvSpPr>
        <p:spPr>
          <a:xfrm>
            <a:off x="5659200" y="1378800"/>
            <a:ext cx="1998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16 / 16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5659200" y="1710000"/>
            <a:ext cx="1998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Coverage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5659200" y="2034000"/>
            <a:ext cx="1998000" cy="111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Best accepted pose retained in each radius × tilt stratum.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7884000" y="1224000"/>
            <a:ext cx="2304000" cy="1296000"/>
          </a:xfrm>
          <a:prstGeom prst="rect">
            <a:avLst/>
          </a:prstGeom>
          <a:solidFill>
            <a:srgbClr val="f3f5f2"/>
          </a:solidFill>
          <a:ln w="0">
            <a:noFill/>
          </a:ln>
        </p:spPr>
      </p:sp>
      <p:sp>
        <p:nvSpPr>
          <p:cNvPr id="226" name=""/>
          <p:cNvSpPr/>
          <p:nvPr/>
        </p:nvSpPr>
        <p:spPr>
          <a:xfrm>
            <a:off x="7884000" y="1224000"/>
            <a:ext cx="61200" cy="1296000"/>
          </a:xfrm>
          <a:prstGeom prst="rect">
            <a:avLst/>
          </a:prstGeom>
          <a:solidFill>
            <a:srgbClr val="d94b55"/>
          </a:solidFill>
          <a:ln w="0">
            <a:noFill/>
          </a:ln>
        </p:spPr>
      </p:sp>
      <p:sp>
        <p:nvSpPr>
          <p:cNvPr id="227" name=""/>
          <p:cNvSpPr txBox="1"/>
          <p:nvPr/>
        </p:nvSpPr>
        <p:spPr>
          <a:xfrm>
            <a:off x="8071200" y="1378800"/>
            <a:ext cx="1998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≥</a:t>
            </a:r>
            <a:r>
              <a:rPr b="0" lang="en-US" sz="1800" spc="-1" strike="noStrike">
                <a:latin typeface="Arial"/>
              </a:rPr>
              <a:t>30°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8071200" y="1710000"/>
            <a:ext cx="1998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Orientation diversity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8071200" y="2034000"/>
            <a:ext cx="1998000" cy="111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Every selected quaternion pair is separated by at least 30°.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648000" y="2916000"/>
            <a:ext cx="104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Six 200-step candidates · constant RFD3_SEED=42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648000" y="3348000"/>
            <a:ext cx="1584000" cy="972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6ddd1"/>
            </a:solidFill>
            <a:round/>
          </a:ln>
        </p:spPr>
      </p:sp>
      <p:sp>
        <p:nvSpPr>
          <p:cNvPr id="232" name=""/>
          <p:cNvSpPr txBox="1"/>
          <p:nvPr/>
        </p:nvSpPr>
        <p:spPr>
          <a:xfrm>
            <a:off x="738000" y="3510000"/>
            <a:ext cx="140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2131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738000" y="3852000"/>
            <a:ext cx="140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r20.5 · t41°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2448000" y="3348000"/>
            <a:ext cx="1584000" cy="972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6ddd1"/>
            </a:solidFill>
            <a:round/>
          </a:ln>
        </p:spPr>
      </p:sp>
      <p:sp>
        <p:nvSpPr>
          <p:cNvPr id="235" name=""/>
          <p:cNvSpPr txBox="1"/>
          <p:nvPr/>
        </p:nvSpPr>
        <p:spPr>
          <a:xfrm>
            <a:off x="2538000" y="3510000"/>
            <a:ext cx="140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2153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2538000" y="3852000"/>
            <a:ext cx="140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r20.1 · t65°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4248000" y="3348000"/>
            <a:ext cx="1584000" cy="972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6ddd1"/>
            </a:solidFill>
            <a:round/>
          </a:ln>
        </p:spPr>
      </p:sp>
      <p:sp>
        <p:nvSpPr>
          <p:cNvPr id="238" name=""/>
          <p:cNvSpPr txBox="1"/>
          <p:nvPr/>
        </p:nvSpPr>
        <p:spPr>
          <a:xfrm>
            <a:off x="4338000" y="3510000"/>
            <a:ext cx="140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2003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4338000" y="3852000"/>
            <a:ext cx="140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r22.4 · t6°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6048000" y="3348000"/>
            <a:ext cx="1584000" cy="972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6ddd1"/>
            </a:solidFill>
            <a:round/>
          </a:ln>
        </p:spPr>
      </p:sp>
      <p:sp>
        <p:nvSpPr>
          <p:cNvPr id="241" name=""/>
          <p:cNvSpPr txBox="1"/>
          <p:nvPr/>
        </p:nvSpPr>
        <p:spPr>
          <a:xfrm>
            <a:off x="6138000" y="3510000"/>
            <a:ext cx="140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2248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6138000" y="3852000"/>
            <a:ext cx="140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r25.4 · t34°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7848000" y="3348000"/>
            <a:ext cx="1584000" cy="972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6ddd1"/>
            </a:solidFill>
            <a:round/>
          </a:ln>
        </p:spPr>
      </p:sp>
      <p:sp>
        <p:nvSpPr>
          <p:cNvPr id="244" name=""/>
          <p:cNvSpPr txBox="1"/>
          <p:nvPr/>
        </p:nvSpPr>
        <p:spPr>
          <a:xfrm>
            <a:off x="7938000" y="3510000"/>
            <a:ext cx="140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2213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7938000" y="3852000"/>
            <a:ext cx="140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r25.6 · t58°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9648000" y="3348000"/>
            <a:ext cx="1584000" cy="972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6ddd1"/>
            </a:solidFill>
            <a:round/>
          </a:ln>
        </p:spPr>
      </p:sp>
      <p:sp>
        <p:nvSpPr>
          <p:cNvPr id="247" name=""/>
          <p:cNvSpPr txBox="1"/>
          <p:nvPr/>
        </p:nvSpPr>
        <p:spPr>
          <a:xfrm>
            <a:off x="9738000" y="3510000"/>
            <a:ext cx="140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2200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9738000" y="3852000"/>
            <a:ext cx="140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r27.8 · t75°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648000" y="4680000"/>
            <a:ext cx="1044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Using the same diffusion seed isolates the effect of the initial rigid pose. Each job must independently pass the interface audit.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576000" y="6516000"/>
            <a:ext cx="900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RFD3 Mosaic · 1V1 update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10728000" y="6516000"/>
            <a:ext cx="68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8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"/>
          <p:cNvSpPr txBox="1"/>
          <p:nvPr/>
        </p:nvSpPr>
        <p:spPr>
          <a:xfrm>
            <a:off x="576000" y="234000"/>
            <a:ext cx="1098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IMMEDIATE PLAN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576000" y="414000"/>
            <a:ext cx="10980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Next week: turn GPU outputs into a decision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576000" y="900000"/>
            <a:ext cx="10944000" cy="0"/>
          </a:xfrm>
          <a:prstGeom prst="line">
            <a:avLst/>
          </a:prstGeom>
          <a:ln w="10080">
            <a:solidFill>
              <a:srgbClr val="d6dd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"/>
          <p:cNvSpPr/>
          <p:nvPr/>
        </p:nvSpPr>
        <p:spPr>
          <a:xfrm>
            <a:off x="648000" y="1152000"/>
            <a:ext cx="648000" cy="648000"/>
          </a:xfrm>
          <a:prstGeom prst="rect">
            <a:avLst/>
          </a:prstGeom>
          <a:solidFill>
            <a:srgbClr val="c54888"/>
          </a:solidFill>
          <a:ln w="0">
            <a:noFill/>
          </a:ln>
        </p:spPr>
      </p:sp>
      <p:sp>
        <p:nvSpPr>
          <p:cNvPr id="256" name=""/>
          <p:cNvSpPr txBox="1"/>
          <p:nvPr/>
        </p:nvSpPr>
        <p:spPr>
          <a:xfrm>
            <a:off x="648000" y="1314000"/>
            <a:ext cx="648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1512000" y="1188000"/>
            <a:ext cx="342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Collect six 200-step outputs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1512000" y="1476000"/>
            <a:ext cx="936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Track job provenance and candidate-manifest hashes.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648000" y="2142000"/>
            <a:ext cx="648000" cy="648000"/>
          </a:xfrm>
          <a:prstGeom prst="rect">
            <a:avLst/>
          </a:prstGeom>
          <a:solidFill>
            <a:srgbClr val="3c6c44"/>
          </a:solidFill>
          <a:ln w="0">
            <a:noFill/>
          </a:ln>
        </p:spPr>
      </p:sp>
      <p:sp>
        <p:nvSpPr>
          <p:cNvPr id="260" name=""/>
          <p:cNvSpPr txBox="1"/>
          <p:nvPr/>
        </p:nvSpPr>
        <p:spPr>
          <a:xfrm>
            <a:off x="648000" y="2304000"/>
            <a:ext cx="648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1512000" y="2178000"/>
            <a:ext cx="342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Apply hard acceptance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1512000" y="2466000"/>
            <a:ext cx="936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Seed audit first; reject any interface-preservation failure.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648000" y="3132000"/>
            <a:ext cx="648000" cy="648000"/>
          </a:xfrm>
          <a:prstGeom prst="rect">
            <a:avLst/>
          </a:prstGeom>
          <a:solidFill>
            <a:srgbClr val="3c6c44"/>
          </a:solidFill>
          <a:ln w="0">
            <a:noFill/>
          </a:ln>
        </p:spPr>
      </p:sp>
      <p:sp>
        <p:nvSpPr>
          <p:cNvPr id="264" name=""/>
          <p:cNvSpPr txBox="1"/>
          <p:nvPr/>
        </p:nvSpPr>
        <p:spPr>
          <a:xfrm>
            <a:off x="648000" y="3294000"/>
            <a:ext cx="648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1512000" y="3168000"/>
            <a:ext cx="342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Compare scaffold quality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1512000" y="3456000"/>
            <a:ext cx="936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Junctions · chain breaks · backbone/side-chain clashes · C3.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648000" y="4122000"/>
            <a:ext cx="648000" cy="648000"/>
          </a:xfrm>
          <a:prstGeom prst="rect">
            <a:avLst/>
          </a:prstGeom>
          <a:solidFill>
            <a:srgbClr val="3c6c44"/>
          </a:solidFill>
          <a:ln w="0">
            <a:noFill/>
          </a:ln>
        </p:spPr>
      </p:sp>
      <p:sp>
        <p:nvSpPr>
          <p:cNvPr id="268" name=""/>
          <p:cNvSpPr txBox="1"/>
          <p:nvPr/>
        </p:nvSpPr>
        <p:spPr>
          <a:xfrm>
            <a:off x="648000" y="4284000"/>
            <a:ext cx="648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4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1512000" y="4158000"/>
            <a:ext cx="342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Rank successful poses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1512000" y="4446000"/>
            <a:ext cx="936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Compactness · secondary structure · linker fold quality.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648000" y="5112000"/>
            <a:ext cx="648000" cy="648000"/>
          </a:xfrm>
          <a:prstGeom prst="rect">
            <a:avLst/>
          </a:prstGeom>
          <a:solidFill>
            <a:srgbClr val="c54888"/>
          </a:solidFill>
          <a:ln w="0">
            <a:noFill/>
          </a:ln>
        </p:spPr>
      </p:sp>
      <p:sp>
        <p:nvSpPr>
          <p:cNvPr id="272" name=""/>
          <p:cNvSpPr txBox="1"/>
          <p:nvPr/>
        </p:nvSpPr>
        <p:spPr>
          <a:xfrm>
            <a:off x="648000" y="5274000"/>
            <a:ext cx="648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5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1512000" y="5148000"/>
            <a:ext cx="342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Run targeted replicates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1512000" y="5436000"/>
            <a:ext cx="936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Vary RFD3_SEED only for the strongest input poses.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576000" y="6516000"/>
            <a:ext cx="900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RFD3 Mosaic · 1V1 update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10728000" y="6516000"/>
            <a:ext cx="68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9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"/>
          <p:cNvSpPr txBox="1"/>
          <p:nvPr/>
        </p:nvSpPr>
        <p:spPr>
          <a:xfrm>
            <a:off x="576000" y="234000"/>
            <a:ext cx="1098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INTERFACE-SEED 1.0 → RFD3 MOSAIC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576000" y="414000"/>
            <a:ext cx="10980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Why the previous approach was not enough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576000" y="900000"/>
            <a:ext cx="10944000" cy="0"/>
          </a:xfrm>
          <a:prstGeom prst="line">
            <a:avLst/>
          </a:prstGeom>
          <a:ln w="10080">
            <a:solidFill>
              <a:srgbClr val="d6dd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"/>
          <p:cNvSpPr/>
          <p:nvPr/>
        </p:nvSpPr>
        <p:spPr>
          <a:xfrm>
            <a:off x="612000" y="1188000"/>
            <a:ext cx="3240000" cy="432000"/>
          </a:xfrm>
          <a:prstGeom prst="rect">
            <a:avLst/>
          </a:prstGeom>
          <a:solidFill>
            <a:srgbClr val="f7e7ef"/>
          </a:solidFill>
          <a:ln w="0">
            <a:noFill/>
          </a:ln>
        </p:spPr>
      </p:sp>
      <p:sp>
        <p:nvSpPr>
          <p:cNvPr id="281" name=""/>
          <p:cNvSpPr txBox="1"/>
          <p:nvPr/>
        </p:nvSpPr>
        <p:spPr>
          <a:xfrm>
            <a:off x="756000" y="1314000"/>
            <a:ext cx="2952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Previous Interface-Seed path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3924000" y="1188000"/>
            <a:ext cx="1296000" cy="432000"/>
          </a:xfrm>
          <a:prstGeom prst="rect">
            <a:avLst/>
          </a:prstGeom>
          <a:solidFill>
            <a:srgbClr val="f3f5f2"/>
          </a:solidFill>
          <a:ln w="0">
            <a:noFill/>
          </a:ln>
        </p:spPr>
      </p:sp>
      <p:sp>
        <p:nvSpPr>
          <p:cNvPr id="283" name=""/>
          <p:cNvSpPr txBox="1"/>
          <p:nvPr/>
        </p:nvSpPr>
        <p:spPr>
          <a:xfrm>
            <a:off x="4032000" y="1314000"/>
            <a:ext cx="108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Limitation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5292000" y="1188000"/>
            <a:ext cx="6120000" cy="432000"/>
          </a:xfrm>
          <a:prstGeom prst="rect">
            <a:avLst/>
          </a:prstGeom>
          <a:solidFill>
            <a:srgbClr val="e8f0e5"/>
          </a:solidFill>
          <a:ln w="0">
            <a:noFill/>
          </a:ln>
        </p:spPr>
      </p:sp>
      <p:sp>
        <p:nvSpPr>
          <p:cNvPr id="285" name=""/>
          <p:cNvSpPr txBox="1"/>
          <p:nvPr/>
        </p:nvSpPr>
        <p:spPr>
          <a:xfrm>
            <a:off x="5436000" y="1314000"/>
            <a:ext cx="5832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Current RFD3 Mosaic response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612000" y="1710000"/>
            <a:ext cx="3240000" cy="630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6ddd1"/>
            </a:solidFill>
            <a:round/>
          </a:ln>
        </p:spPr>
      </p:sp>
      <p:sp>
        <p:nvSpPr>
          <p:cNvPr id="287" name=""/>
          <p:cNvSpPr txBox="1"/>
          <p:nvPr/>
        </p:nvSpPr>
        <p:spPr>
          <a:xfrm>
            <a:off x="756000" y="1872000"/>
            <a:ext cx="2952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Generator-coupled workflow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3924000" y="1710000"/>
            <a:ext cx="1296000" cy="630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6ddd1"/>
            </a:solidFill>
            <a:round/>
          </a:ln>
        </p:spPr>
      </p:sp>
      <p:sp>
        <p:nvSpPr>
          <p:cNvPr id="289" name=""/>
          <p:cNvSpPr txBox="1"/>
          <p:nvPr/>
        </p:nvSpPr>
        <p:spPr>
          <a:xfrm>
            <a:off x="4032000" y="1872000"/>
            <a:ext cx="108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Hard to reuse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5292000" y="1710000"/>
            <a:ext cx="6120000" cy="630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6ddd1"/>
            </a:solidFill>
            <a:round/>
          </a:ln>
        </p:spPr>
      </p:sp>
      <p:sp>
        <p:nvSpPr>
          <p:cNvPr id="291" name=""/>
          <p:cNvSpPr txBox="1"/>
          <p:nvPr/>
        </p:nvSpPr>
        <p:spPr>
          <a:xfrm>
            <a:off x="5436000" y="1854000"/>
            <a:ext cx="5832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Backend-independent schema; RFD3 is an adapter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612000" y="2466000"/>
            <a:ext cx="3240000" cy="630000"/>
          </a:xfrm>
          <a:prstGeom prst="rect">
            <a:avLst/>
          </a:prstGeom>
          <a:solidFill>
            <a:srgbClr val="f3f5f2"/>
          </a:solidFill>
          <a:ln w="12600">
            <a:solidFill>
              <a:srgbClr val="d6ddd1"/>
            </a:solidFill>
            <a:round/>
          </a:ln>
        </p:spPr>
      </p:sp>
      <p:sp>
        <p:nvSpPr>
          <p:cNvPr id="293" name=""/>
          <p:cNvSpPr txBox="1"/>
          <p:nvPr/>
        </p:nvSpPr>
        <p:spPr>
          <a:xfrm>
            <a:off x="756000" y="2628000"/>
            <a:ext cx="2952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Topology implicit in scripts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3924000" y="2466000"/>
            <a:ext cx="1296000" cy="630000"/>
          </a:xfrm>
          <a:prstGeom prst="rect">
            <a:avLst/>
          </a:prstGeom>
          <a:solidFill>
            <a:srgbClr val="f3f5f2"/>
          </a:solidFill>
          <a:ln w="12600">
            <a:solidFill>
              <a:srgbClr val="d6ddd1"/>
            </a:solidFill>
            <a:round/>
          </a:ln>
        </p:spPr>
      </p:sp>
      <p:sp>
        <p:nvSpPr>
          <p:cNvPr id="295" name=""/>
          <p:cNvSpPr txBox="1"/>
          <p:nvPr/>
        </p:nvSpPr>
        <p:spPr>
          <a:xfrm>
            <a:off x="4032000" y="2628000"/>
            <a:ext cx="108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Easy to mis-map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5292000" y="2466000"/>
            <a:ext cx="6120000" cy="630000"/>
          </a:xfrm>
          <a:prstGeom prst="rect">
            <a:avLst/>
          </a:prstGeom>
          <a:solidFill>
            <a:srgbClr val="f3f5f2"/>
          </a:solidFill>
          <a:ln w="12600">
            <a:solidFill>
              <a:srgbClr val="d6ddd1"/>
            </a:solidFill>
            <a:round/>
          </a:ln>
        </p:spPr>
      </p:sp>
      <p:sp>
        <p:nvSpPr>
          <p:cNvPr id="297" name=""/>
          <p:cNvSpPr txBox="1"/>
          <p:nvPr/>
        </p:nvSpPr>
        <p:spPr>
          <a:xfrm>
            <a:off x="5436000" y="2610000"/>
            <a:ext cx="5832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Explicit fragments, interfaces and directed scaffold links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612000" y="3222000"/>
            <a:ext cx="3240000" cy="630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6ddd1"/>
            </a:solidFill>
            <a:round/>
          </a:ln>
        </p:spPr>
      </p:sp>
      <p:sp>
        <p:nvSpPr>
          <p:cNvPr id="299" name=""/>
          <p:cNvSpPr txBox="1"/>
          <p:nvPr/>
        </p:nvSpPr>
        <p:spPr>
          <a:xfrm>
            <a:off x="756000" y="3384000"/>
            <a:ext cx="2952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Ad hoc random placement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3924000" y="3222000"/>
            <a:ext cx="1296000" cy="630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6ddd1"/>
            </a:solidFill>
            <a:round/>
          </a:ln>
        </p:spPr>
      </p:sp>
      <p:sp>
        <p:nvSpPr>
          <p:cNvPr id="301" name=""/>
          <p:cNvSpPr txBox="1"/>
          <p:nvPr/>
        </p:nvSpPr>
        <p:spPr>
          <a:xfrm>
            <a:off x="4032000" y="3384000"/>
            <a:ext cx="108000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Poor coverage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5292000" y="3222000"/>
            <a:ext cx="6120000" cy="630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6ddd1"/>
            </a:solidFill>
            <a:round/>
          </a:ln>
        </p:spPr>
      </p:sp>
      <p:sp>
        <p:nvSpPr>
          <p:cNvPr id="303" name=""/>
          <p:cNvSpPr txBox="1"/>
          <p:nvPr/>
        </p:nvSpPr>
        <p:spPr>
          <a:xfrm>
            <a:off x="5436000" y="3366000"/>
            <a:ext cx="5832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SE(3) DOFs plus Latin-hypercube SO(3)/radius search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612000" y="3978000"/>
            <a:ext cx="3240000" cy="630000"/>
          </a:xfrm>
          <a:prstGeom prst="rect">
            <a:avLst/>
          </a:prstGeom>
          <a:solidFill>
            <a:srgbClr val="f3f5f2"/>
          </a:solidFill>
          <a:ln w="12600">
            <a:solidFill>
              <a:srgbClr val="d6ddd1"/>
            </a:solidFill>
            <a:round/>
          </a:ln>
        </p:spPr>
      </p:sp>
      <p:sp>
        <p:nvSpPr>
          <p:cNvPr id="305" name=""/>
          <p:cNvSpPr txBox="1"/>
          <p:nvPr/>
        </p:nvSpPr>
        <p:spPr>
          <a:xfrm>
            <a:off x="756000" y="4140000"/>
            <a:ext cx="2952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Seed-only pose provenance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3924000" y="3978000"/>
            <a:ext cx="1296000" cy="630000"/>
          </a:xfrm>
          <a:prstGeom prst="rect">
            <a:avLst/>
          </a:prstGeom>
          <a:solidFill>
            <a:srgbClr val="f3f5f2"/>
          </a:solidFill>
          <a:ln w="12600">
            <a:solidFill>
              <a:srgbClr val="d6ddd1"/>
            </a:solidFill>
            <a:round/>
          </a:ln>
        </p:spPr>
      </p:sp>
      <p:sp>
        <p:nvSpPr>
          <p:cNvPr id="307" name=""/>
          <p:cNvSpPr txBox="1"/>
          <p:nvPr/>
        </p:nvSpPr>
        <p:spPr>
          <a:xfrm>
            <a:off x="4032000" y="4140000"/>
            <a:ext cx="108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Not exact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5292000" y="3978000"/>
            <a:ext cx="6120000" cy="630000"/>
          </a:xfrm>
          <a:prstGeom prst="rect">
            <a:avLst/>
          </a:prstGeom>
          <a:solidFill>
            <a:srgbClr val="f3f5f2"/>
          </a:solidFill>
          <a:ln w="12600">
            <a:solidFill>
              <a:srgbClr val="d6ddd1"/>
            </a:solidFill>
            <a:round/>
          </a:ln>
        </p:spPr>
      </p:sp>
      <p:sp>
        <p:nvSpPr>
          <p:cNvPr id="309" name=""/>
          <p:cNvSpPr txBox="1"/>
          <p:nvPr/>
        </p:nvSpPr>
        <p:spPr>
          <a:xfrm>
            <a:off x="5436000" y="4122000"/>
            <a:ext cx="5832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Candidate manifest, config hash and CIF SHA256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612000" y="4734000"/>
            <a:ext cx="3240000" cy="630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6ddd1"/>
            </a:solidFill>
            <a:round/>
          </a:ln>
        </p:spPr>
      </p:sp>
      <p:sp>
        <p:nvSpPr>
          <p:cNvPr id="311" name=""/>
          <p:cNvSpPr txBox="1"/>
          <p:nvPr/>
        </p:nvSpPr>
        <p:spPr>
          <a:xfrm>
            <a:off x="756000" y="4896000"/>
            <a:ext cx="2952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Visual success criterion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3924000" y="4734000"/>
            <a:ext cx="1296000" cy="630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6ddd1"/>
            </a:solidFill>
            <a:round/>
          </a:ln>
        </p:spPr>
      </p:sp>
      <p:sp>
        <p:nvSpPr>
          <p:cNvPr id="313" name=""/>
          <p:cNvSpPr txBox="1"/>
          <p:nvPr/>
        </p:nvSpPr>
        <p:spPr>
          <a:xfrm>
            <a:off x="4032000" y="4896000"/>
            <a:ext cx="108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False positives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5292000" y="4734000"/>
            <a:ext cx="6120000" cy="630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6ddd1"/>
            </a:solidFill>
            <a:round/>
          </a:ln>
        </p:spPr>
      </p:sp>
      <p:sp>
        <p:nvSpPr>
          <p:cNvPr id="315" name=""/>
          <p:cNvSpPr txBox="1"/>
          <p:nvPr/>
        </p:nvSpPr>
        <p:spPr>
          <a:xfrm>
            <a:off x="5436000" y="4878000"/>
            <a:ext cx="5832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Cross-chain atom/contact audit with thresholds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612000" y="5832000"/>
            <a:ext cx="10800000" cy="396000"/>
          </a:xfrm>
          <a:prstGeom prst="rect">
            <a:avLst/>
          </a:prstGeom>
          <a:solidFill>
            <a:srgbClr val="e4f2f3"/>
          </a:solidFill>
          <a:ln w="0">
            <a:noFill/>
          </a:ln>
        </p:spPr>
      </p:sp>
      <p:sp>
        <p:nvSpPr>
          <p:cNvPr id="317" name=""/>
          <p:cNvSpPr txBox="1"/>
          <p:nvPr/>
        </p:nvSpPr>
        <p:spPr>
          <a:xfrm>
            <a:off x="792000" y="5922000"/>
            <a:ext cx="1044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Upgrade principle: make geometry, topology, search and validation explicit before spending GPU time.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576000" y="6516000"/>
            <a:ext cx="900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RFD3 Mosaic · 1V1 update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10728000" y="6516000"/>
            <a:ext cx="68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10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"/>
          <p:cNvSpPr txBox="1"/>
          <p:nvPr/>
        </p:nvSpPr>
        <p:spPr>
          <a:xfrm>
            <a:off x="576000" y="234000"/>
            <a:ext cx="1098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MEDIUM-TERM DIRECTION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576000" y="414000"/>
            <a:ext cx="10980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After the C3 benchmark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576000" y="900000"/>
            <a:ext cx="10944000" cy="0"/>
          </a:xfrm>
          <a:prstGeom prst="line">
            <a:avLst/>
          </a:prstGeom>
          <a:ln w="10080">
            <a:solidFill>
              <a:srgbClr val="d6dd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"/>
          <p:cNvSpPr/>
          <p:nvPr/>
        </p:nvSpPr>
        <p:spPr>
          <a:xfrm>
            <a:off x="648000" y="1368000"/>
            <a:ext cx="3240000" cy="2700000"/>
          </a:xfrm>
          <a:prstGeom prst="rect">
            <a:avLst/>
          </a:prstGeom>
          <a:solidFill>
            <a:srgbClr val="f3f5f2"/>
          </a:solidFill>
          <a:ln w="0">
            <a:noFill/>
          </a:ln>
        </p:spPr>
      </p:sp>
      <p:sp>
        <p:nvSpPr>
          <p:cNvPr id="324" name=""/>
          <p:cNvSpPr/>
          <p:nvPr/>
        </p:nvSpPr>
        <p:spPr>
          <a:xfrm>
            <a:off x="648000" y="1368000"/>
            <a:ext cx="3240000" cy="108000"/>
          </a:xfrm>
          <a:prstGeom prst="rect">
            <a:avLst/>
          </a:prstGeom>
          <a:solidFill>
            <a:srgbClr val="3c6c44"/>
          </a:solidFill>
          <a:ln w="0">
            <a:noFill/>
          </a:ln>
        </p:spPr>
      </p:sp>
      <p:sp>
        <p:nvSpPr>
          <p:cNvPr id="325" name=""/>
          <p:cNvSpPr txBox="1"/>
          <p:nvPr/>
        </p:nvSpPr>
        <p:spPr>
          <a:xfrm>
            <a:off x="864000" y="1620000"/>
            <a:ext cx="2808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Stabilize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864000" y="2052000"/>
            <a:ext cx="2700000" cy="137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Turn the successful C3 path into a reproducible benchmark and committed implementation.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864000" y="3312000"/>
            <a:ext cx="270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Reproducibility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4284000" y="1368000"/>
            <a:ext cx="3240000" cy="2700000"/>
          </a:xfrm>
          <a:prstGeom prst="rect">
            <a:avLst/>
          </a:prstGeom>
          <a:solidFill>
            <a:srgbClr val="f3f5f2"/>
          </a:solidFill>
          <a:ln w="0">
            <a:noFill/>
          </a:ln>
        </p:spPr>
      </p:sp>
      <p:sp>
        <p:nvSpPr>
          <p:cNvPr id="329" name=""/>
          <p:cNvSpPr/>
          <p:nvPr/>
        </p:nvSpPr>
        <p:spPr>
          <a:xfrm>
            <a:off x="4284000" y="1368000"/>
            <a:ext cx="3240000" cy="108000"/>
          </a:xfrm>
          <a:prstGeom prst="rect">
            <a:avLst/>
          </a:prstGeom>
          <a:solidFill>
            <a:srgbClr val="c54888"/>
          </a:solidFill>
          <a:ln w="0">
            <a:noFill/>
          </a:ln>
        </p:spPr>
      </p:sp>
      <p:sp>
        <p:nvSpPr>
          <p:cNvPr id="330" name=""/>
          <p:cNvSpPr txBox="1"/>
          <p:nvPr/>
        </p:nvSpPr>
        <p:spPr>
          <a:xfrm>
            <a:off x="4500000" y="1620000"/>
            <a:ext cx="2808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Generalize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4500000" y="2052000"/>
            <a:ext cx="2700000" cy="111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Extend the same schema/compiler/audit contract to D2, D3 and multiple interface seeds.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4500000" y="3312000"/>
            <a:ext cx="270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Multi-interface design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7920000" y="1368000"/>
            <a:ext cx="3240000" cy="2700000"/>
          </a:xfrm>
          <a:prstGeom prst="rect">
            <a:avLst/>
          </a:prstGeom>
          <a:solidFill>
            <a:srgbClr val="f3f5f2"/>
          </a:solidFill>
          <a:ln w="0">
            <a:noFill/>
          </a:ln>
        </p:spPr>
      </p:sp>
      <p:sp>
        <p:nvSpPr>
          <p:cNvPr id="334" name=""/>
          <p:cNvSpPr/>
          <p:nvPr/>
        </p:nvSpPr>
        <p:spPr>
          <a:xfrm>
            <a:off x="7920000" y="1368000"/>
            <a:ext cx="3240000" cy="108000"/>
          </a:xfrm>
          <a:prstGeom prst="rect">
            <a:avLst/>
          </a:prstGeom>
          <a:solidFill>
            <a:srgbClr val="2d8c99"/>
          </a:solidFill>
          <a:ln w="0">
            <a:noFill/>
          </a:ln>
        </p:spPr>
      </p:sp>
      <p:sp>
        <p:nvSpPr>
          <p:cNvPr id="335" name=""/>
          <p:cNvSpPr txBox="1"/>
          <p:nvPr/>
        </p:nvSpPr>
        <p:spPr>
          <a:xfrm>
            <a:off x="8136000" y="1620000"/>
            <a:ext cx="2808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Automate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8136000" y="2052000"/>
            <a:ext cx="2700000" cy="137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Unify static pose scores, GPU outcomes and downstream fold/designability validation.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8136000" y="3312000"/>
            <a:ext cx="270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Decision pipeline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648000" y="4536000"/>
            <a:ext cx="10512000" cy="900000"/>
          </a:xfrm>
          <a:prstGeom prst="rect">
            <a:avLst/>
          </a:prstGeom>
          <a:solidFill>
            <a:srgbClr val="f7e7ef"/>
          </a:solidFill>
          <a:ln w="0">
            <a:noFill/>
          </a:ln>
        </p:spPr>
      </p:sp>
      <p:sp>
        <p:nvSpPr>
          <p:cNvPr id="339" name=""/>
          <p:cNvSpPr txBox="1"/>
          <p:nvPr/>
        </p:nvSpPr>
        <p:spPr>
          <a:xfrm>
            <a:off x="900000" y="4752000"/>
            <a:ext cx="10008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Discussion for the 1V1: prioritize deeper C3 validation, or begin Dn / multi-interface generalization in parallel?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576000" y="6516000"/>
            <a:ext cx="900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RFD3 Mosaic · 1V1 update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10728000" y="6516000"/>
            <a:ext cx="68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11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2026-07-23T14:15:52Z</dcterms:created>
  <dc:creator/>
  <dc:description/>
  <dc:language>en-US</dc:language>
  <cp:lastModifiedBy/>
  <dcterms:modified xsi:type="dcterms:W3CDTF">2026-07-23T14:15:52Z</dcterms:modified>
  <cp:revision>1</cp:revision>
  <dc:subject/>
  <dc:title/>
</cp:coreProperties>
</file>